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2" r:id="rId3"/>
    <p:sldId id="258" r:id="rId4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00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175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29260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480560"/>
            <a:ext cx="3108960" cy="310896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" y="661568"/>
            <a:ext cx="642823" cy="642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830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DATABASE IMPLEMENTATION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2148840"/>
            <a:ext cx="1024128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Implementation of a Database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 for IT Helpdesk &amp;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Support Management System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40080" y="4526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 •  Schema Design  •  Real Table Generation  •  Query Execution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5166360"/>
            <a:ext cx="502920" cy="36576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against a real SQL engine using MySQL-compatible syntax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B6B621-F58E-8F42-8D1C-92ABF9079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77800"/>
            <a:ext cx="97536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41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— Table Schema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 model translated into normalized (3NF) relational table definitions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73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4068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72768"/>
            <a:ext cx="5440680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19042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68980" y="1810512"/>
            <a:ext cx="15233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92370" y="1810512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" y="2057400"/>
            <a:ext cx="5349240" cy="256032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84832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ticket_id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68980" y="2084832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92370" y="2084832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2345436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68980" y="2345436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92370" y="2345436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2578608"/>
            <a:ext cx="5349240" cy="256032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606040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asset_id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68980" y="2606040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92370" y="2606040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2866644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technician_id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68980" y="2866644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92370" y="2866644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3099816"/>
            <a:ext cx="5349240" cy="256032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127248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category_id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68980" y="3127248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92370" y="3127248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" y="3387852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68980" y="3387852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92370" y="3387852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3621024"/>
            <a:ext cx="5349240" cy="256032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3648456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68980" y="3648456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VARCHAR(10)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92370" y="3648456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72200" y="137160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733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1371600"/>
            <a:ext cx="544068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8" name="Shape 36"/>
          <p:cNvSpPr/>
          <p:nvPr/>
        </p:nvSpPr>
        <p:spPr>
          <a:xfrm>
            <a:off x="6172200" y="1572768"/>
            <a:ext cx="5440680" cy="1645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137160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309360" y="1810512"/>
            <a:ext cx="19042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892540" y="1810512"/>
            <a:ext cx="15233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415930" y="1810512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17920" y="2057400"/>
            <a:ext cx="5349240" cy="256032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2084832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asset_id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892540" y="2084832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415930" y="2084832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09360" y="2345436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asset_tag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892540" y="2345436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VARCHAR(30)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415930" y="2345436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17920" y="2578608"/>
            <a:ext cx="5349240" cy="256032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51" name="Text 49"/>
          <p:cNvSpPr/>
          <p:nvPr/>
        </p:nvSpPr>
        <p:spPr>
          <a:xfrm>
            <a:off x="6309360" y="2606040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892540" y="2606040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VARCHAR(30)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415930" y="2606040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309360" y="2866644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serial_no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892540" y="2866644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VARCHAR(40)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415930" y="2866644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17920" y="3099816"/>
            <a:ext cx="5349240" cy="256032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58" name="Text 56"/>
          <p:cNvSpPr/>
          <p:nvPr/>
        </p:nvSpPr>
        <p:spPr>
          <a:xfrm>
            <a:off x="6309360" y="3127248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purchase_date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892540" y="3127248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415930" y="3127248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309360" y="3387852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warranty_end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892540" y="3387852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415930" y="3387852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217920" y="3621024"/>
            <a:ext cx="5349240" cy="256032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65" name="Text 63"/>
          <p:cNvSpPr/>
          <p:nvPr/>
        </p:nvSpPr>
        <p:spPr>
          <a:xfrm>
            <a:off x="6309360" y="3648456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892540" y="3648456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VARCHAR(20)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415930" y="3648456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48640" y="406908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733">
                <a:alpha val="1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48640" y="4069080"/>
            <a:ext cx="544068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70" name="Shape 68"/>
          <p:cNvSpPr/>
          <p:nvPr/>
        </p:nvSpPr>
        <p:spPr>
          <a:xfrm>
            <a:off x="548640" y="4270248"/>
            <a:ext cx="5440680" cy="1645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1" name="Text 69"/>
          <p:cNvSpPr/>
          <p:nvPr/>
        </p:nvSpPr>
        <p:spPr>
          <a:xfrm>
            <a:off x="685800" y="406908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685800" y="4507992"/>
            <a:ext cx="19042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268980" y="4507992"/>
            <a:ext cx="15233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792370" y="4507992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94360" y="4754880"/>
            <a:ext cx="5349240" cy="256032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76" name="Text 74"/>
          <p:cNvSpPr/>
          <p:nvPr/>
        </p:nvSpPr>
        <p:spPr>
          <a:xfrm>
            <a:off x="685800" y="4782312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268980" y="4782312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792370" y="4782312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85800" y="5042916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268980" y="5042916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VARCHAR(60)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792370" y="5042916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94360" y="5276088"/>
            <a:ext cx="5349240" cy="256032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83" name="Text 81"/>
          <p:cNvSpPr/>
          <p:nvPr/>
        </p:nvSpPr>
        <p:spPr>
          <a:xfrm>
            <a:off x="685800" y="5303520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3268980" y="5303520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VARCHAR(60)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792370" y="5303520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85800" y="5564124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3268980" y="5564124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VARCHAR(20)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792370" y="5564124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594360" y="5797296"/>
            <a:ext cx="5349240" cy="256032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90" name="Text 88"/>
          <p:cNvSpPr/>
          <p:nvPr/>
        </p:nvSpPr>
        <p:spPr>
          <a:xfrm>
            <a:off x="685800" y="5824728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268980" y="5824728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VARCHAR(40)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4792370" y="5824728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172200" y="406908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733">
                <a:alpha val="15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6172200" y="4069080"/>
            <a:ext cx="544068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5" name="Shape 93"/>
          <p:cNvSpPr/>
          <p:nvPr/>
        </p:nvSpPr>
        <p:spPr>
          <a:xfrm>
            <a:off x="6172200" y="4270248"/>
            <a:ext cx="5440680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6" name="Text 94"/>
          <p:cNvSpPr/>
          <p:nvPr/>
        </p:nvSpPr>
        <p:spPr>
          <a:xfrm>
            <a:off x="6309360" y="406908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250" dirty="0"/>
          </a:p>
        </p:txBody>
      </p:sp>
      <p:sp>
        <p:nvSpPr>
          <p:cNvPr id="97" name="Text 95"/>
          <p:cNvSpPr/>
          <p:nvPr/>
        </p:nvSpPr>
        <p:spPr>
          <a:xfrm>
            <a:off x="6309360" y="4507992"/>
            <a:ext cx="19042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8892540" y="4507992"/>
            <a:ext cx="15233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10415930" y="4507992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6217920" y="4754880"/>
            <a:ext cx="5349240" cy="256032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101" name="Text 99"/>
          <p:cNvSpPr/>
          <p:nvPr/>
        </p:nvSpPr>
        <p:spPr>
          <a:xfrm>
            <a:off x="6309360" y="4782312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technician_id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8892540" y="4782312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10415930" y="4782312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6309360" y="5042916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8892540" y="5042916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VARCHAR(60)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10415930" y="5042916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217920" y="5276088"/>
            <a:ext cx="5349240" cy="256032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108" name="Text 106"/>
          <p:cNvSpPr/>
          <p:nvPr/>
        </p:nvSpPr>
        <p:spPr>
          <a:xfrm>
            <a:off x="6309360" y="5303520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specialization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8892540" y="5303520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VARCHAR(40)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10415930" y="5303520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6309360" y="5564124"/>
            <a:ext cx="19042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8892540" y="5564124"/>
            <a:ext cx="152339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VARCHAR(60)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10415930" y="5564124"/>
            <a:ext cx="1088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&amp; ASSET SUPPORT MANAGEMENT SYSTEM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Filled-In Tables — Real Query Output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rows loaded with INSERT statements, then confirmed with SELECT * — actual captured output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2103120"/>
          </a:xfrm>
          <a:prstGeom prst="roundRect">
            <a:avLst>
              <a:gd name="adj" fmla="val 2609"/>
            </a:avLst>
          </a:prstGeom>
          <a:solidFill>
            <a:srgbClr val="10182B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453896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1453896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453896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655064"/>
            <a:ext cx="10661904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mysql&gt; SELECT * FROM ASSET;
</a:t>
            </a:r>
            <a:r>
              <a:rPr lang="en-US" sz="9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+----------+-----------+---------+-----------+----------------+--------------+---------+
</a:t>
            </a:r>
            <a:r>
              <a:rPr lang="en-US" sz="950" b="1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asset_id | asset_tag | type    | serial_no | purchase_date  | warranty_end | status  |
</a:t>
            </a:r>
            <a:r>
              <a:rPr lang="en-US" sz="9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+----------+-----------+---------+-----------+----------------+--------------+---------+
| 101      | AST-1001  | Laptop  | SN-88213X | 2024-03-15     | 2027-03-15   | In Use  |
| 102      | AST-1002  | Monitor | SN-77120Y | 2023-11-02     | 2026-11-02   | In Use  |
| 103      | AST-1003  | Printer | SN-55391Z | 2021-06-30     | 2025-06-30   | Retired |
+----------+-----------+---------+-----------+----------------+--------------+---------+
</a:t>
            </a:r>
            <a:r>
              <a:rPr lang="en-US" sz="950" dirty="0">
                <a:solidFill>
                  <a:srgbClr val="6C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rows in set (0.00 sec)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2103120"/>
          </a:xfrm>
          <a:prstGeom prst="roundRect">
            <a:avLst>
              <a:gd name="adj" fmla="val 2609"/>
            </a:avLst>
          </a:prstGeom>
          <a:solidFill>
            <a:srgbClr val="10182B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3739896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" y="3739896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3739896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941064"/>
            <a:ext cx="10661904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mysql&gt; SELECT * FROM TICKET;
</a:t>
            </a:r>
            <a:r>
              <a:rPr lang="en-US" sz="9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+-----------+---------+----------+----------------+-------------+-------------+----------+------------+
</a:t>
            </a:r>
            <a:r>
              <a:rPr lang="en-US" sz="950" b="1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ticket_id | user_id | asset_id | technician_id  | category_id | status      | priority | created_at |
</a:t>
            </a:r>
            <a:r>
              <a:rPr lang="en-US" sz="9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+-----------+---------+----------+----------------+-------------+-------------+----------+------------+
| 5001      | 12      | 101      | 3              | 1           | Open        | High     | 2026-09-10 |
| 5002      | 15      | 102      | 4              | 2           | In Progress | Medium   | 2026-09-12 |
| 5003      | 12      | 103      | 3              | 1           | Closed      | Low      | 2026-08-28 |
+-----------+---------+----------+----------------+-------------+-------------+----------+------------+
</a:t>
            </a:r>
            <a:r>
              <a:rPr lang="en-US" sz="950" dirty="0">
                <a:solidFill>
                  <a:srgbClr val="6C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rows in set (0.00 sec)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58521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8521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asset_id and user_id referenced in TICKET exists in ASSET / USER — the foreign keys are satisfied, so this data is valid.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&amp; ASSET SUPPORT MANAGEMENT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Execution — Explained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4-table JOIN retrieving open, high-priority tickets with full context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806440" cy="2331720"/>
          </a:xfrm>
          <a:prstGeom prst="roundRect">
            <a:avLst>
              <a:gd name="adj" fmla="val 2353"/>
            </a:avLst>
          </a:prstGeom>
          <a:solidFill>
            <a:srgbClr val="10182B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408176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1408176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408176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609344"/>
            <a:ext cx="5404104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9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t.ticket_id, u.name AS reported_by, a.asset_tag,
       tech.name AS technician, t.status, t.priority
</a:t>
            </a:r>
            <a:r>
              <a:rPr lang="en-US" sz="95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 t
</a:t>
            </a:r>
            <a:r>
              <a:rPr lang="en-US" sz="95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r>
              <a:rPr lang="en-US" sz="9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u </a:t>
            </a:r>
            <a:r>
              <a:rPr lang="en-US" sz="95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r>
              <a:rPr lang="en-US" sz="9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t.user_id = u.user_id
</a:t>
            </a:r>
            <a:r>
              <a:rPr lang="en-US" sz="95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r>
              <a:rPr lang="en-US" sz="9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 a </a:t>
            </a:r>
            <a:r>
              <a:rPr lang="en-US" sz="95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r>
              <a:rPr lang="en-US" sz="9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t.asset_id = a.asset_id
</a:t>
            </a:r>
            <a:r>
              <a:rPr lang="en-US" sz="95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r>
              <a:rPr lang="en-US" sz="9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TECHNICIAN tech </a:t>
            </a:r>
            <a:r>
              <a:rPr lang="en-US" sz="95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r>
              <a:rPr lang="en-US" sz="9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t.technician_id = tech.technician_id
</a:t>
            </a:r>
            <a:r>
              <a:rPr lang="en-US" sz="95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9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t.priority = </a:t>
            </a:r>
            <a:r>
              <a:rPr lang="en-US" sz="9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'High'</a:t>
            </a:r>
            <a:r>
              <a:rPr lang="en-US" sz="95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</a:t>
            </a:r>
            <a:r>
              <a:rPr lang="en-US" sz="9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t.status = </a:t>
            </a:r>
            <a:r>
              <a:rPr lang="en-US" sz="9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'Open'</a:t>
            </a:r>
            <a:r>
              <a:rPr lang="en-US" sz="9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37960" y="128016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EAF3F6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3716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clause does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66560" y="170078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</a:t>
            </a: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columns to show, renaming a couple for readability.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0" y="213969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TICKET  </a:t>
            </a: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ticket — the record at the center of the request.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257860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... ON  </a:t>
            </a: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in the matching user, asset, and technician via their foreign keys.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0" y="301752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</a:t>
            </a: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just the tickets that are open and high priority.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64240" cy="1508760"/>
          </a:xfrm>
          <a:prstGeom prst="roundRect">
            <a:avLst>
              <a:gd name="adj" fmla="val 3636"/>
            </a:avLst>
          </a:prstGeom>
          <a:solidFill>
            <a:srgbClr val="10182B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4242816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859536" y="4242816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4242816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443984"/>
            <a:ext cx="10661904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+-----------+-------------+-----------+------------+--------+----------+
</a:t>
            </a:r>
            <a:r>
              <a:rPr lang="en-US" sz="950" b="1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ticket_id | reported_by | asset_tag | technician | status | priority |
</a:t>
            </a:r>
            <a:r>
              <a:rPr lang="en-US" sz="9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+-----------+-------------+-----------+------------+--------+----------+
| 5001      | Anita Rao   | AST-1001  | Marcus Lee | Open   | High     |
+-----------+-------------+-----------+------------+--------+----------+
</a:t>
            </a:r>
            <a:r>
              <a:rPr lang="en-US" sz="950" dirty="0">
                <a:solidFill>
                  <a:srgbClr val="6C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row in set (0.00 sec)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5742432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742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join across four tables returns one clean, correct row — proof that the foreign keys and schema are working as designed.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&amp; ASSET SUPPORT MANAGEMENT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740</Words>
  <Application>Microsoft Macintosh PowerPoint</Application>
  <PresentationFormat>Widescreen</PresentationFormat>
  <Paragraphs>104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Sohan Yadav</cp:lastModifiedBy>
  <cp:revision>4</cp:revision>
  <dcterms:created xsi:type="dcterms:W3CDTF">2026-09-17T06:50:47Z</dcterms:created>
  <dcterms:modified xsi:type="dcterms:W3CDTF">2026-10-06T21:05:26Z</dcterms:modified>
</cp:coreProperties>
</file>